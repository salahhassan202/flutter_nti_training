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  <p:sldMasterId id="214748365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6B2D3A-0C35-4AC3-94FB-5A229736DC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1FF768-2F1F-4E32-A180-D5934212CD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70BC05-B297-4780-93EF-CF6959EE2D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ne Column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9F65940-ABAD-4FFA-B51E-180D911360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ne Column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AED51D6-7B0E-4930-8EFA-1A02CB868E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"/>
          <p:cNvSpPr txBox="1"/>
          <p:nvPr/>
        </p:nvSpPr>
        <p:spPr>
          <a:xfrm>
            <a:off x="4104000" y="4896000"/>
            <a:ext cx="4392000" cy="34632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noAutofit/>
          </a:bodyPr>
          <a:p>
            <a:fld id="{9270D6E8-2BF8-483C-B040-3A92E7068AFB}" type="author"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fld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25920" y="462888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3859200" y="5324400"/>
            <a:ext cx="624024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4044960" y="4944960"/>
            <a:ext cx="7200" cy="487440"/>
          </a:xfrm>
          <a:custGeom>
            <a:avLst/>
            <a:gdLst>
              <a:gd name="textAreaLeft" fmla="*/ 1080 w 7200"/>
              <a:gd name="textAreaRight" fmla="*/ 6120 w 7200"/>
              <a:gd name="textAreaTop" fmla="*/ 1080 h 487440"/>
              <a:gd name="textAreaBottom" fmla="*/ 486360 h 487440"/>
            </a:gdLst>
            <a:ahLst/>
            <a:rect l="textAreaLeft" t="textAreaTop" r="textAreaRight" b="textAreaBottom"/>
            <a:pathLst>
              <a:path w="21600" h="1393714">
                <a:moveTo>
                  <a:pt x="10800" y="0"/>
                </a:moveTo>
                <a:arcTo wR="10800" hR="10800" stAng="16200000" swAng="-5400000"/>
                <a:lnTo>
                  <a:pt x="0" y="1382914"/>
                </a:lnTo>
                <a:arcTo wR="10800" hR="10800" stAng="10800000" swAng="-5400000"/>
                <a:lnTo>
                  <a:pt x="10800" y="1393714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1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2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3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6C76A8A9-D32D-456F-9CEE-BFA37BC269DA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20880" y="60732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4430520" y="840960"/>
            <a:ext cx="567396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9819720" y="474480"/>
            <a:ext cx="7200" cy="493200"/>
          </a:xfrm>
          <a:custGeom>
            <a:avLst/>
            <a:gdLst>
              <a:gd name="textAreaLeft" fmla="*/ 1080 w 7200"/>
              <a:gd name="textAreaRight" fmla="*/ 6120 w 7200"/>
              <a:gd name="textAreaTop" fmla="*/ 1080 h 493200"/>
              <a:gd name="textAreaBottom" fmla="*/ 492120 h 493200"/>
            </a:gdLst>
            <a:ahLst/>
            <a:rect l="textAreaLeft" t="textAreaTop" r="textAreaRight" b="textAreaBottom"/>
            <a:pathLst>
              <a:path w="21600" h="1410171">
                <a:moveTo>
                  <a:pt x="10800" y="0"/>
                </a:moveTo>
                <a:arcTo wR="10800" hR="10800" stAng="16200000" swAng="-5400000"/>
                <a:lnTo>
                  <a:pt x="0" y="1399371"/>
                </a:lnTo>
                <a:arcTo wR="10800" hR="10800" stAng="10800000" swAng="-5400000"/>
                <a:lnTo>
                  <a:pt x="10800" y="14101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900800" y="5204880"/>
            <a:ext cx="746532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9259920" y="491724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4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5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6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D6011535-FCE8-429F-AAC1-62E0DDA095F1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20880" y="60732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4430520" y="840960"/>
            <a:ext cx="567396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819720" y="474480"/>
            <a:ext cx="7200" cy="493200"/>
          </a:xfrm>
          <a:custGeom>
            <a:avLst/>
            <a:gdLst>
              <a:gd name="textAreaLeft" fmla="*/ 1080 w 7200"/>
              <a:gd name="textAreaRight" fmla="*/ 6120 w 7200"/>
              <a:gd name="textAreaTop" fmla="*/ 1080 h 493200"/>
              <a:gd name="textAreaBottom" fmla="*/ 492120 h 493200"/>
            </a:gdLst>
            <a:ahLst/>
            <a:rect l="textAreaLeft" t="textAreaTop" r="textAreaRight" b="textAreaBottom"/>
            <a:pathLst>
              <a:path w="21600" h="1410171">
                <a:moveTo>
                  <a:pt x="10800" y="0"/>
                </a:moveTo>
                <a:arcTo wR="10800" hR="10800" stAng="16200000" swAng="-5400000"/>
                <a:lnTo>
                  <a:pt x="0" y="1399371"/>
                </a:lnTo>
                <a:arcTo wR="10800" hR="10800" stAng="10800000" swAng="-5400000"/>
                <a:lnTo>
                  <a:pt x="10800" y="14101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644080" y="5194800"/>
            <a:ext cx="372204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9259920" y="491724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974160" y="5194440"/>
            <a:ext cx="372204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590000" y="491400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055480" y="1037160"/>
            <a:ext cx="10800" cy="3700800"/>
          </a:xfrm>
          <a:custGeom>
            <a:avLst/>
            <a:gdLst>
              <a:gd name="textAreaLeft" fmla="*/ 1440 w 10800"/>
              <a:gd name="textAreaRight" fmla="*/ 9360 w 10800"/>
              <a:gd name="textAreaTop" fmla="*/ 1440 h 3700800"/>
              <a:gd name="textAreaBottom" fmla="*/ 3699360 h 3700800"/>
            </a:gdLst>
            <a:ahLst/>
            <a:rect l="textAreaLeft" t="textAreaTop" r="textAreaRight" b="textAreaBottom"/>
            <a:pathLst>
              <a:path w="21600" h="7163535">
                <a:moveTo>
                  <a:pt x="10800" y="0"/>
                </a:moveTo>
                <a:arcTo wR="10800" hR="10800" stAng="16200000" swAng="-5400000"/>
                <a:lnTo>
                  <a:pt x="0" y="7152735"/>
                </a:lnTo>
                <a:arcTo wR="10800" hR="10800" stAng="10800000" swAng="-5400000"/>
                <a:lnTo>
                  <a:pt x="10800" y="7163535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7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8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9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203653B4-0CD6-41DC-B894-AD99F22EAB22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20880" y="60732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4430520" y="840960"/>
            <a:ext cx="567396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9819720" y="474480"/>
            <a:ext cx="7200" cy="493200"/>
          </a:xfrm>
          <a:custGeom>
            <a:avLst/>
            <a:gdLst>
              <a:gd name="textAreaLeft" fmla="*/ 1080 w 7200"/>
              <a:gd name="textAreaRight" fmla="*/ 6120 w 7200"/>
              <a:gd name="textAreaTop" fmla="*/ 1080 h 493200"/>
              <a:gd name="textAreaBottom" fmla="*/ 492120 h 493200"/>
            </a:gdLst>
            <a:ahLst/>
            <a:rect l="textAreaLeft" t="textAreaTop" r="textAreaRight" b="textAreaBottom"/>
            <a:pathLst>
              <a:path w="21600" h="1410171">
                <a:moveTo>
                  <a:pt x="10800" y="0"/>
                </a:moveTo>
                <a:arcTo wR="10800" hR="10800" stAng="16200000" swAng="-5400000"/>
                <a:lnTo>
                  <a:pt x="0" y="1399371"/>
                </a:lnTo>
                <a:arcTo wR="10800" hR="10800" stAng="10800000" swAng="-5400000"/>
                <a:lnTo>
                  <a:pt x="10800" y="14101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900800" y="5204880"/>
            <a:ext cx="746532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9259920" y="491724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api.escuelajs.co/api/v1/products/?categoryId=1" TargetMode="External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28600" y="3657600"/>
            <a:ext cx="9000000" cy="65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2a6099"/>
                </a:solidFill>
                <a:latin typeface="Arial"/>
              </a:rPr>
              <a:t>Cartify</a:t>
            </a: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 - Building </a:t>
            </a:r>
            <a:r>
              <a:rPr b="1" lang="en-US" sz="2600" spc="-1" strike="noStrike">
                <a:solidFill>
                  <a:srgbClr val="2a6099"/>
                </a:solidFill>
                <a:latin typeface="Arial"/>
              </a:rPr>
              <a:t>E-Commerce</a:t>
            </a: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 Ecosystem.</a:t>
            </a:r>
            <a:endParaRPr b="1" lang="en-US" sz="2600" spc="-1" strike="noStrike">
              <a:solidFill>
                <a:srgbClr val="ff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Project Overview (What &amp; Why?)</a:t>
            </a:r>
            <a:endParaRPr b="1" lang="en-US" sz="2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00960" y="16002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What is Cartify?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 It is a fast and beautiful mobile app for online shopping.</a:t>
            </a:r>
            <a:endParaRPr b="1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The Mission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To make shopping easy, fast, and bug-free for every user.</a:t>
            </a:r>
            <a:endParaRPr b="1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Main Goal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High performance and a clean user interface.</a:t>
            </a:r>
            <a:endParaRPr b="1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1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73E146-50CB-4B5A-A96B-8BB5C1A667F1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 </a:t>
            </a: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The Problem (The "S" &amp; "T" in STAR)</a:t>
            </a:r>
            <a:endParaRPr b="0" lang="en-US" sz="2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00960" y="16002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Situation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Many shopping apps have mistakes. For example, when you add the same item twice, it creates two rows instead of increasing the count.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Task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We needed to build a smart cart that understands quantities and remembers your favorite items without any errors.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E298CCF-E340-4A21-8DDC-0C4DB8015A5B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 </a:t>
            </a: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The Solution (The "A" &amp; "R" in STAR)</a:t>
            </a:r>
            <a:endParaRPr b="0" lang="en-US" sz="2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00960" y="16002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Action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I built a custom logic in the Cart Cubit. It checks the ID of the product. If it exists, it only adds +1 to the quantity.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Result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A 100% accurate cart. Users can add, remove, and update items smoothly. No more double items!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55239D3-F0ED-4F47-AF43-6C48B05F1A1D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Technical Architecture (How it's Built)</a:t>
            </a:r>
            <a:endParaRPr b="0" lang="en-US" sz="2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00960" y="16002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Feature-First Design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We divided the app into folders like "</a:t>
            </a:r>
            <a:r>
              <a:rPr b="1" lang="en-US" sz="2400" spc="-1" strike="noStrike">
                <a:solidFill>
                  <a:srgbClr val="bf0041"/>
                </a:solidFill>
                <a:latin typeface="Arial"/>
              </a:rPr>
              <a:t>Home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," "</a:t>
            </a:r>
            <a:r>
              <a:rPr b="1" lang="en-US" sz="2400" spc="-1" strike="noStrike">
                <a:solidFill>
                  <a:srgbClr val="00a933"/>
                </a:solidFill>
                <a:latin typeface="Arial"/>
              </a:rPr>
              <a:t>Cart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," and "</a:t>
            </a:r>
            <a:r>
              <a:rPr b="1" lang="en-US" sz="2400" spc="-1" strike="noStrike">
                <a:solidFill>
                  <a:srgbClr val="ff0000"/>
                </a:solidFill>
                <a:latin typeface="Arial"/>
              </a:rPr>
              <a:t>Favorites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." This makes the code easy to read and fix.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Clean Code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We used a "</a:t>
            </a:r>
            <a:r>
              <a:rPr b="1" lang="en-US" sz="2400" spc="-1" strike="noStrike">
                <a:solidFill>
                  <a:srgbClr val="780373"/>
                </a:solidFill>
                <a:latin typeface="Arial"/>
              </a:rPr>
              <a:t>Core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" folder for things like colors and fonts to keep the project organized.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CC91D1A-5BDA-4C1F-AF32-E0CCC0CF6A12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State Management (The Brain)</a:t>
            </a:r>
            <a:endParaRPr b="0" lang="en-US" sz="2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00960" y="16002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Cubit &amp; BLoC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We used Cubit to manage the app's "memory."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Real-time Updates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When you click "Favorite" on the Home screen, it changes instantly in the Favorites screen. No reloading is needed!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DAA3EDB-0553-46A0-A1F0-83A43D1FC0D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UI &amp; Dynamic Theme</a:t>
            </a:r>
            <a:endParaRPr b="0" lang="en-US" sz="2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00960" y="16002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Two Modes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We created a professional </a:t>
            </a:r>
            <a:r>
              <a:rPr b="1" lang="en-US" sz="2400" spc="-1" strike="noStrike">
                <a:solidFill>
                  <a:srgbClr val="00a933"/>
                </a:solidFill>
                <a:latin typeface="Arial"/>
              </a:rPr>
              <a:t>Light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 Mode and a high-end </a:t>
            </a:r>
            <a:r>
              <a:rPr b="1" lang="en-US" sz="2400" spc="-1" strike="noStrike">
                <a:solidFill>
                  <a:srgbClr val="800080"/>
                </a:solidFill>
                <a:latin typeface="Arial"/>
              </a:rPr>
              <a:t>Dark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 Mode.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The Colors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We used a special </a:t>
            </a:r>
            <a:r>
              <a:rPr b="1" lang="en-US" sz="2400" spc="-1" strike="noStrike">
                <a:solidFill>
                  <a:srgbClr val="ff8000"/>
                </a:solidFill>
                <a:latin typeface="Arial"/>
              </a:rPr>
              <a:t>Accent Orange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 for the Dark Mode to make it look premium and easy on the eyes.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Responsive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The app looks perfect on small and large phones thanks to </a:t>
            </a:r>
            <a:r>
              <a:rPr b="1" lang="en-US" sz="2400" spc="-1" strike="noStrike">
                <a:solidFill>
                  <a:srgbClr val="3faf46"/>
                </a:solidFill>
                <a:latin typeface="Arial"/>
              </a:rPr>
              <a:t>ScreenUtil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4152929-D2DC-4B13-AA8F-AF2DC1731E59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Network &amp; Data (API)</a:t>
            </a:r>
            <a:endParaRPr b="0" lang="en-US" sz="2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00960" y="16002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Data Source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We connected the app to a real online database (</a:t>
            </a:r>
            <a:r>
              <a:rPr b="1" lang="en-US" sz="2400" spc="-1" strike="noStrike">
                <a:solidFill>
                  <a:srgbClr val="81d41a"/>
                </a:solidFill>
                <a:latin typeface="Arial"/>
              </a:rPr>
              <a:t>Escuela JS API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).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Dio Tool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We used "</a:t>
            </a:r>
            <a:r>
              <a:rPr b="1" lang="en-US" sz="2400" spc="-1" strike="noStrike">
                <a:solidFill>
                  <a:srgbClr val="ff8000"/>
                </a:solidFill>
                <a:latin typeface="Arial"/>
              </a:rPr>
              <a:t>Dio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" to fetch products. It handles errors so the app never crashes even if the internet is slow.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0F2670A-416F-40EC-A5ED-28B9F2C984E5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Key Features (The Best Parts)</a:t>
            </a:r>
            <a:endParaRPr b="0" lang="en-US" sz="2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00960" y="16002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Smart Cart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Auto-calculates the total price.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ff0000"/>
                </a:solidFill>
                <a:latin typeface="Arial"/>
              </a:rPr>
              <a:t>Favorites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Save items you love with one click.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81d41a"/>
                </a:solidFill>
                <a:latin typeface="Arial"/>
              </a:rPr>
              <a:t>Onboarding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A beautiful introduction for new users.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ed4c05"/>
                </a:solidFill>
                <a:latin typeface="Arial"/>
              </a:rPr>
              <a:t>Theme Switcher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Change the app look instantly.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C998C2D-F57D-47E4-A087-9CD8BE8B5895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Future Roadmap (What's Next?)</a:t>
            </a:r>
            <a:endParaRPr b="0" lang="en-US" sz="2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00960" y="16002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a6099"/>
                </a:solidFill>
                <a:latin typeface="Arial"/>
              </a:rPr>
              <a:t>Firebase Login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To let users create real accounts.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00a933"/>
                </a:solidFill>
                <a:latin typeface="Arial"/>
              </a:rPr>
              <a:t>Stripe Payment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To allow buying with credit cards.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ff4000"/>
                </a:solidFill>
                <a:latin typeface="Arial"/>
              </a:rPr>
              <a:t>Notifications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To send users alerts about sales.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E535732-2987-47DC-8D11-E899B6679278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Resources &amp; Links</a:t>
            </a:r>
            <a:endParaRPr b="0" lang="en-US" sz="2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82160" y="128376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467"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bf0041"/>
                </a:solidFill>
                <a:latin typeface="Arial"/>
              </a:rPr>
              <a:t>GitHub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en-US" sz="2000" spc="-1" strike="noStrike" u="sng">
                <a:solidFill>
                  <a:srgbClr val="2a6099"/>
                </a:solidFill>
                <a:uFillTx/>
                <a:latin typeface="Arial"/>
              </a:rPr>
              <a:t>https://github.com/SalahHassan202/flutter_cartify_app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ff00ff"/>
                </a:solidFill>
                <a:latin typeface="Arial"/>
              </a:rPr>
              <a:t>Api</a:t>
            </a: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000" spc="-1" strike="noStrike">
                <a:solidFill>
                  <a:srgbClr val="2a6099"/>
                </a:solidFill>
                <a:latin typeface="Arial"/>
                <a:hlinkClick r:id="rId1"/>
              </a:rPr>
              <a:t>https://api.escuelajs.co/api/v1/products/?categoryId=1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62c400"/>
                </a:solidFill>
                <a:latin typeface="Arial"/>
              </a:rPr>
              <a:t>FlowChart</a:t>
            </a:r>
            <a:r>
              <a:rPr b="1" lang="en-US" sz="2000" spc="-1" strike="noStrike">
                <a:solidFill>
                  <a:srgbClr val="2a6099"/>
                </a:solidFill>
                <a:latin typeface="Arial"/>
              </a:rPr>
              <a:t>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000" spc="-1" strike="noStrike" u="sng">
                <a:solidFill>
                  <a:srgbClr val="2a6099"/>
                </a:solidFill>
                <a:uFillTx/>
                <a:latin typeface="Arial"/>
              </a:rPr>
              <a:t>https://mermaid.live/view#pako:eNplU8tymzAU_RWNFt3USQz4EbNox4Y4duJXxvailb1Q4BY0AckjRBOH8b9XCGjxlGEYXemco3MfFDgQIWAXR5KeYrTzDxzpZ0y2ikrlou0poVmMtoEE4Ed0c_MNTYopk5lCO5YC2mcgv18q0kQfox-QGZRH1vxVUBkyHtX07NjCrYSB-WQmtEytX5171UkVVF_fbD2QiRTvGaCNFGEeqEawOp2SnYiiBJBP5dvdgkWxQkud3LEt9GCgj0XpG40DxQSv3T-WrryEBW-NvIHOSBP5oChLsmuvLdaU_haSKTC0OWnCDHn5K9OlrN3pwir4nz0OQ6QE8nTVjcATMcua68WgMQsRseAqnZnBPpMtJKAtbtknoC9trRr9XGm2qU9ma1E06cEHy1SGGDe8pqeLdk-XZM518lR34CWnXDF1Rl-tYwtZd3VFSgsreEdzBenfvBb6hiv7S4Nek_0p1EXRFVI00dVnQZnFfl5jVxWqTVybrU1Vo6ohLlpSTiMwVzaTsTG4F2LqJ3KF7tA0V7nUI0TPKXB1xB09-izErpI5dHAKMqVliItS4YBVDCkcsKuXoZ6rAz7wi-acKP8pRNrQpMijGLu_aJLpKDfp-Izqn-ofBHgI0hM5V9gdDYwEdgv8gd2-Zd9a3d5g2LdH9mhwf9_BZ-w69q1j207fcQZO1xla1qWDP82d3dtRzxl1-wNr0O0N9etc_gC9nx6x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ff4000"/>
                </a:solidFill>
                <a:latin typeface="Arial"/>
              </a:rPr>
              <a:t>Stitch Ai</a:t>
            </a:r>
            <a:r>
              <a:rPr b="1" lang="en-US" sz="2400" spc="-1" strike="noStrike">
                <a:solidFill>
                  <a:srgbClr val="00a933"/>
                </a:solidFill>
                <a:latin typeface="Arial"/>
              </a:rPr>
              <a:t> , </a:t>
            </a:r>
            <a:r>
              <a:rPr b="1" lang="en-US" sz="2400" spc="-1" strike="noStrike">
                <a:solidFill>
                  <a:srgbClr val="840000"/>
                </a:solidFill>
                <a:latin typeface="Arial"/>
              </a:rPr>
              <a:t>Figma</a:t>
            </a:r>
            <a:r>
              <a:rPr b="1" lang="en-US" sz="2400" spc="-1" strike="noStrike">
                <a:solidFill>
                  <a:srgbClr val="00a933"/>
                </a:solidFill>
                <a:latin typeface="Arial"/>
              </a:rPr>
              <a:t> , </a:t>
            </a:r>
            <a:r>
              <a:rPr b="1" lang="en-US" sz="2400" spc="-1" strike="noStrike">
                <a:solidFill>
                  <a:srgbClr val="9e004f"/>
                </a:solidFill>
                <a:latin typeface="Arial"/>
              </a:rPr>
              <a:t>Docs</a:t>
            </a:r>
            <a:r>
              <a:rPr b="1" lang="en-US" sz="2400" spc="-1" strike="noStrike">
                <a:solidFill>
                  <a:srgbClr val="00a933"/>
                </a:solidFill>
                <a:latin typeface="Arial"/>
              </a:rPr>
              <a:t> , </a:t>
            </a:r>
            <a:r>
              <a:rPr b="1" lang="en-US" sz="2400" spc="-1" strike="noStrike">
                <a:solidFill>
                  <a:srgbClr val="fe7f00"/>
                </a:solidFill>
                <a:latin typeface="Arial"/>
              </a:rPr>
              <a:t>Pub Dev</a:t>
            </a:r>
            <a:r>
              <a:rPr b="1" lang="en-US" sz="2400" spc="-1" strike="noStrike">
                <a:solidFill>
                  <a:srgbClr val="00a933"/>
                </a:solidFill>
                <a:latin typeface="Arial"/>
              </a:rPr>
              <a:t> 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1E8D8FD-8DB8-4373-A63A-CF8D86678ABF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Conclusion &amp; Questions</a:t>
            </a:r>
            <a:endParaRPr b="0" lang="en-US" sz="2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00960" y="16002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00e3e3"/>
                </a:solidFill>
                <a:latin typeface="Arial"/>
              </a:rPr>
              <a:t>Summary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Cartify is a complete, scalable, and professional Flutter project.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9c009c"/>
                </a:solidFill>
                <a:latin typeface="Arial"/>
              </a:rPr>
              <a:t>Closing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Thank you for your time. Do you have any questions?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4A0EAAB-3F69-4037-A6D4-CA87840F9FC5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600" spc="-1" strike="noStrike">
                <a:solidFill>
                  <a:srgbClr val="ff0000"/>
                </a:solidFill>
                <a:latin typeface="Arial"/>
              </a:rPr>
              <a:t>Team</a:t>
            </a:r>
            <a:endParaRPr b="0" lang="en-US" sz="2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00960" y="16002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fe7f00"/>
                </a:solidFill>
                <a:latin typeface="Arial"/>
              </a:rPr>
              <a:t>Salah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00b000"/>
                </a:solidFill>
                <a:latin typeface="Arial"/>
              </a:rPr>
              <a:t>Mahmoud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ff00ff"/>
                </a:solidFill>
                <a:latin typeface="Arial"/>
              </a:rPr>
              <a:t>Salma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e40072"/>
                </a:solidFill>
                <a:latin typeface="Arial"/>
              </a:rPr>
              <a:t>Sara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32000"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en-US" sz="2400" spc="-1" strike="noStrike">
                <a:solidFill>
                  <a:srgbClr val="ff0000"/>
                </a:solidFill>
                <a:latin typeface="Arial"/>
              </a:rPr>
              <a:t>Supervised by</a:t>
            </a: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: </a:t>
            </a:r>
            <a:r>
              <a:rPr b="1" lang="en-US" sz="2400" spc="-1" strike="noStrike">
                <a:solidFill>
                  <a:srgbClr val="009e4f"/>
                </a:solidFill>
                <a:latin typeface="Arial"/>
              </a:rPr>
              <a:t>Eng. Aya El-Sayed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7C7E984-7B70-4906-ABF3-F58404F47BA4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2026-02-23T02:01:14Z</dcterms:created>
  <dc:creator/>
  <dc:description/>
  <dc:language>en-US</dc:language>
  <cp:lastModifiedBy/>
  <dcterms:modified xsi:type="dcterms:W3CDTF">2026-02-23T02:44:11Z</dcterms:modified>
  <cp:revision>2</cp:revision>
  <dc:subject/>
  <dc:title>Portfolio</dc:title>
</cp:coreProperties>
</file>